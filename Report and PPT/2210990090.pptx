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9" r:id="rId6"/>
    <p:sldId id="257" r:id="rId7"/>
    <p:sldId id="269" r:id="rId8"/>
    <p:sldId id="270" r:id="rId9"/>
    <p:sldId id="276" r:id="rId10"/>
    <p:sldId id="271" r:id="rId11"/>
    <p:sldId id="272" r:id="rId12"/>
    <p:sldId id="273" r:id="rId13"/>
    <p:sldId id="277" r:id="rId14"/>
    <p:sldId id="278" r:id="rId15"/>
    <p:sldId id="274" r:id="rId16"/>
    <p:sldId id="275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/>
              <a:t>A Survey on AI-Based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/>
              <a:t>Chatbots in Customer Service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Akshit, 2210990090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Nehchal, 2210991972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13997-4D54-B9DD-2A9A-AFACA49C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5120C23-0B03-761F-5E2C-B86345A574E7}"/>
              </a:ext>
            </a:extLst>
          </p:cNvPr>
          <p:cNvSpPr txBox="1"/>
          <p:nvPr/>
        </p:nvSpPr>
        <p:spPr>
          <a:xfrm>
            <a:off x="44736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E11BF09-5F56-CEE6-DAED-26770359152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D5E9E01-EB07-B911-27A0-9461FEABE65F}"/>
              </a:ext>
            </a:extLst>
          </p:cNvPr>
          <p:cNvSpPr txBox="1"/>
          <p:nvPr/>
        </p:nvSpPr>
        <p:spPr>
          <a:xfrm>
            <a:off x="93319" y="721359"/>
            <a:ext cx="8794715" cy="441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Objectives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Metrics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27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4736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03479" y="1001589"/>
            <a:ext cx="8794715" cy="469129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fast and scalable customer support has accelerated the adoption of AI chatbots.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customer service systems struggle with high query volumes, delays, and operational costs.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NLP, Machine Learning, and Large Language Models (LLMs) have enabled intelligent conversational systems.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chatbots are widely used in banking, healthcare, retail, and e-commerce for automated support.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D434-C6D4-B5B7-84D2-2760F213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655EDA5-34AF-7F54-1D77-91461E91DAF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66BAB1-6D88-A3FA-96AE-EFC8B1DA101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2ABA67F-9ABF-7353-7593-AB1BB973128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 systems still face issues such as hallucinations, poor contextual understanding, and privacy concerns.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applications require reliable, low-latency, and factually accurate conversational AI systems.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major challenge exists in balancing conversational flexibility with enterprise-level reliability and security.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20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4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D051-08FA-5353-C449-BFDAD905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46D11F4-687F-F0EF-B641-D5B8BA1EC16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BD4F4EC-E734-AE1D-E1CD-419198745B9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616E006-C824-7815-8CD9-5F6F3D791222}"/>
              </a:ext>
            </a:extLst>
          </p:cNvPr>
          <p:cNvSpPr txBox="1"/>
          <p:nvPr/>
        </p:nvSpPr>
        <p:spPr>
          <a:xfrm>
            <a:off x="152640" y="72628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4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evolution of chatbot technologies.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chatbots based on their functionality and intelligence.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Rule based, retrieval based and generative architectures.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performance using standard metrics.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anomaly detection frameworks.</a:t>
            </a:r>
          </a:p>
          <a:p>
            <a:pPr marL="139700">
              <a:lnSpc>
                <a:spcPct val="200000"/>
              </a:lnSpc>
              <a:buClr>
                <a:srgbClr val="000000"/>
              </a:buClr>
              <a:buSzPts val="1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access to real-world industrial datasets due to privacy and institutional restrictions.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findings are based on synthetic or simulated environments, so real enterprise performance may vary.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0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8246-0643-6DE8-5153-DB82678F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E273FA3-419F-BAEA-B3EB-FC7EF580DA0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&amp; Paper Selection Process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72E9327-4D9A-4665-F9B6-82F932BA266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F30E01E-D60E-E043-111F-3E1306E14EFF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were collected from trusted databases including IEEE Xplore, ACM Digital Library,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SSRN.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keywords like “LLM,” “RAG,” “NLP,” and “Customer Service Chatbots” were used to identify relevant and high-quality research papers.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recent and high-quality sources with good number of citations from the last 10 years, especially 2020–2025, were selected.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were evaluated based on relevance to chatbot architectures, evaluation metrics, industrial applications, and AI reliability concepts.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756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243F-37C0-24DA-BE36-E84FDAAA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9D22F71-1168-5514-2B6D-4EE344E39F3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AE058FA-FB3B-A7ED-8B05-D805DC2CE1D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5C1067F-AC27-CEDA-FBCB-B4497B280CBC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evolved from simple rule-based systems like ELIZA to advanced LLM and RAG-powered conversational AI capable of context-aware and human-like interactions.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service functions: informational, task oriented, conversational, hybrid.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intelligences: Rule based, retrieval based, generative, LLM based.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made with respect to the reasoning logic used in the operation and goals of users in the use of a system.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that are hybrids (human-ai) improve customer handling.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6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79E0-1A8E-6907-B478-C59B29F1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FB93BD5-F756-7BCD-4997-7C7DBAB3CA3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&amp; Retrieval-Based Chatbot Architecture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DD44AB-A52A-FEB3-1E9F-7B4C1C3E9D3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514F32F-8A38-4109-E831-4298030E112A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chatbots use predefined “if-then” logic and keyword matching for responses.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chatbots select the best response from a predefined knowledge base using NLP and semantic search.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modules include Input Processing, Rule Engine, Retrieval Engine, and Dialogue Manager.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FAQs, customer support, and structured conversational tasks.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cost-effective, but limited in flexibility and unable to generate completely new responses</a:t>
            </a:r>
            <a:r>
              <a:rPr lang="en-US" sz="2000" dirty="0"/>
              <a:t>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46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7382-13E0-47C0-6B86-D21E740D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594C2F4-7A79-EEE2-EF1A-6F3629ABEB1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Generative, LLM &amp; Hybrid RAG Architecture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204EA9C-D4C2-DC37-E465-77083841C2A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EFF7AED-AB85-F2A2-E416-7A45E7C11A9A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and LLM-based chatbots create unique responses using Transformers and deep learning.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mechanisms help maintain context and improve conversational fluency.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architecture includes Tokenization, Embedding Layers, Transformer Blocks, and Decoding Modules.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RAG systems combine LLMs with external knowledge bases for accurate, real-time responses.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personalization and scalability, but requires high computational resources and strong safety controls.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769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60F1-DA9C-119F-BA97-0D42B592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4ADC074-4CD8-013D-3B31-44E52BF41A8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Functional Evaluation Metrics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7A402BE-E962-990B-5DE9-CDE47E77C54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882F61-77AC-E319-0B05-80C741A92D6A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metrics like BLEU, ROUGE, and METEOR measure similarity between chatbot and human responses.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Rate evaluates factual accuracy and reliability of AI-generated content.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metrics such as Task Success Rate measure whether the chatbot achieves the user’s goal.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Turns-to-Completion evaluates conversational efficiency and workflow navigation.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are scalable and objective but often fail to capture real conversational quality and semantics.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59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8FFC-D91F-D9DC-9EB8-626DDDA5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5057E8F-F61B-7DF9-904A-507D43EFC78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&amp; Hybrid Evaluation Metrics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5177871-88AE-0117-E057-0F755DAD21E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92C0637-2B22-15FD-D05B-EEC9541E8D12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metrics evaluate fluency, empathy, coherence, and engagingness of conversations.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Sensibleness and Specificity Average (SSA) measures conversational naturalness and context relevance.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evaluation provides accurate insight into user satisfaction and experience.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methods like LLM-as-a-Judge combine automated evaluation with AI-based qualitative assessment.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 evaluation relies on combining technical accuracy with real user experience metrics.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351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7C89-8614-81B3-A558-8F86A17F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A02330D-6788-71F6-B57B-97B94FA77A5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 Chatbots in Customer Service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3BC02B0-4E96-A07E-A106-A4480D1E79E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F66CAA7-C96D-56F8-F6E3-C5A8CEF6A8B7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 chatbots provide personalized recommendations, order tracking, and customer support.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chatbots assist with fraud alerts, financial reports, and customer transactions using NLP.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chatbots support symptom checking, appointment scheduling, and mental health assistance.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and hospitality chatbots automate booking services and improve user engagement through human-like interactions.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 include 24/7 availability, reduced operational costs, faster response times, and scalable customer support.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87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2908-CB40-B155-D326-001FE569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C8EF0ED-9E90-D07E-D9A2-AEF83864298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9B1A133-3712-53AC-FB8E-FA0A5D2F8F9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B94FD2A-FF17-AFE7-86E7-F67035596153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have evolved from simple rule-based systems to advanced LLM and RAG-based architectures.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chatbots improve customer service through automation, personalization, and real-time support across industries.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architectures combining LLMs with enterprise workflows are essential for reliability and scalability.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future research areas include latency optimization, vector-less RAG, knowledge graph integration, and stronger security layers.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AI systems aim to support autonomous “agentic” workflows while reducing hallucinations and improving factual accuracy.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0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35026</TotalTime>
  <Words>937</Words>
  <Application>Microsoft Office PowerPoint</Application>
  <PresentationFormat>On-screen Show (4:3)</PresentationFormat>
  <Paragraphs>227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akshit vashishtha</cp:lastModifiedBy>
  <cp:revision>2302</cp:revision>
  <dcterms:created xsi:type="dcterms:W3CDTF">2010-04-09T07:36:15Z</dcterms:created>
  <dcterms:modified xsi:type="dcterms:W3CDTF">2026-05-15T12:40:15Z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